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4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2154"/>
        <p:guide pos="38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Apresentar-se e dizer em uma frase o que foi construído: uma POC que centraliza os dados do ERP do BanVic num ambiente reprodutível.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em 20 segundos. Não se alongar: o avaliador quer ver a solução.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o recorte é consciente, não falta de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 fluxo com o cursor: arquivo, Airflow, duas camadas de destino, consumo. Enfatizar que tudo é provisionado por Terraform.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inteira. Destacar kind, Terraform e Meltano.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forte da entrega. A idempotência vem de dois mecanismos, não de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vale abrir o Graph View do Airflow em vez de ficar no slide. O importante é mostrar a bifurcação e o fan-in.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distinção entre erro transitório e erro de dado é o ponto a martelar.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CI tem um job que falha se um arquivo de credencial ou senha literal entrar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make verify ao vivo em vez de ficar neste slide, se o tempo permitir.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dizendo que a POC termina onde começa a camada analítica — e isso é proposital.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Encerramento: infraestrutura como código, ingestão idempotente, orquestração com dependências explícitas e nenhum segredo versionado.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92024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CERTIFICAÇÃO DATA ENGINEER · INDICIUM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BanVic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10128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9FC9C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Plataforma de ingestão de dados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69080"/>
            <a:ext cx="84124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FA9A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Infraestrutura como código, pipeline ELT e orquestração para tirar o banco das planilhas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3949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A9A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David Couto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O problema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BanVic decide por dados sem ter os dados no lugar certo.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965960"/>
            <a:ext cx="28346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Análise manual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965960"/>
            <a:ext cx="67665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Planilhas e apresentações; nenhuma ferramenta de BI em uso.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03580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0358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990088"/>
            <a:ext cx="28346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Dado preso na origem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990088"/>
            <a:ext cx="67665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ERP, CRM e marketing em sistemas separados, sem ponto único de consulta.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05993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4014216"/>
            <a:ext cx="28346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Risco operacional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4014216"/>
            <a:ext cx="67665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equipe do André repete extrações à mão, com o erro humano que isso carrega.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08406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0840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5038344"/>
            <a:ext cx="283464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Piloto travado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5038344"/>
            <a:ext cx="6766560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projeto de crédito do Lucas precisa de base confiável para provar valor.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6035040"/>
            <a:ext cx="10881360" cy="502920"/>
          </a:xfrm>
          <a:prstGeom prst="roundRect">
            <a:avLst>
              <a:gd name="adj" fmla="val 14545"/>
            </a:avLst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6035040"/>
            <a:ext cx="10424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414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POC entrega o caminho automatizado, reprodutível e auditável do ERP até um ambiente único de consulta.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Escopo da entrega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que está dentro da POC e o que é jornada seguinte.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2697480"/>
          </a:xfrm>
          <a:prstGeom prst="roundRect">
            <a:avLst>
              <a:gd name="adj" fmla="val 2712"/>
            </a:avLst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488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Dentro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33472"/>
            <a:ext cx="4617720" cy="2240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Infraestrutura como código do ambiente inteiro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Pipeline de ingestão das 7 tabelas do ERP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Orquestração, tratamento de falha e idempotência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Validação de qualidade e auditoria das execuções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C2B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Documentação e demonstração funcional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920240"/>
            <a:ext cx="5349240" cy="2697480"/>
          </a:xfrm>
          <a:prstGeom prst="roundRect">
            <a:avLst>
              <a:gd name="adj" fmla="val 2712"/>
            </a:avLst>
          </a:prstGeom>
          <a:solidFill>
            <a:srgbClr val="F4F6F6"/>
          </a:solidFill>
          <a:ln w="12700">
            <a:solidFill>
              <a:srgbClr val="F4F6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5F7278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Etapas seguintes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633472"/>
            <a:ext cx="4617720" cy="22402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Transformação com dbt sobre o schema raw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Dashboard comercial para a área da Camila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Ranking de alavancas pedido pela CEO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Observabilidade com Prometheus e Grafana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Ingestão incremental quando a origem for o banco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Arquitetura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Cluster Kubernetes local provisionado por Terraform, do arquivo ao analista.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2057400" cy="1051560"/>
          </a:xfrm>
          <a:prstGeom prst="roundRect">
            <a:avLst>
              <a:gd name="adj" fmla="val 8696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209163"/>
            <a:ext cx="1874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Arquivos do ERP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02025"/>
            <a:ext cx="1874520" cy="4419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landing zone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somente leitura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88920" y="3538728"/>
            <a:ext cx="5029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383280" y="2834640"/>
            <a:ext cx="228600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322757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Apache Airflow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520440"/>
            <a:ext cx="2103120" cy="4660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KubernetesExecutor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uma task = um pod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flipV="1">
            <a:off x="5760720" y="2618105"/>
            <a:ext cx="441960" cy="76454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757545" y="3703955"/>
            <a:ext cx="412115" cy="76454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63640" y="23317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55080" y="2541778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735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MinIO — Data Lake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834640"/>
            <a:ext cx="2468880" cy="31178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B443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cópia bruta particionada por data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370332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55080" y="3958463"/>
            <a:ext cx="24688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PostgreSQL — DW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4251325"/>
            <a:ext cx="2468880" cy="2501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schema raw carregado pelo Meltano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840" y="3538728"/>
            <a:ext cx="45720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555480" y="301752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D7E6E8"/>
          </a:solidFill>
          <a:ln w="12700">
            <a:solidFill>
              <a:srgbClr val="D7E6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46920" y="3227578"/>
            <a:ext cx="17830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Analistas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646920" y="3520440"/>
            <a:ext cx="1783080" cy="3124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dbt · BI · ad-hoc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71500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5715000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7414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Terraform provisiona namespace, Secrets, volumes, PostgreSQL, MinIO e o release Helm do Airflow. Um comando recria o ambiente do zero.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Stack e por quê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Cada escolha resolve um problema concreto da POC.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1109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kind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880360" y="196596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Cluster Kubernetes local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965960"/>
            <a:ext cx="5852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Sobe em container, leve, publica as portas do nó direto no host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679192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Terraform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679192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Infraestrutura como código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2679192"/>
            <a:ext cx="5852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Um apply recria o ambiente inteiro; estado explícito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3392424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Airflow 2.10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392424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Orquestração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3392424"/>
            <a:ext cx="5852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KubernetesExecutor: cada task é um pod, sem Celery nem Redis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105656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Meltano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105656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Extract e Load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0" y="4105656"/>
            <a:ext cx="5852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Padrão Singer, configuração declarativa, MERGE por chave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76402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818888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MinIO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4818888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Lake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0" y="4818888"/>
            <a:ext cx="5852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API S3 </a:t>
            </a:r>
            <a:r>
              <a:rPr lang="pt-BR" alt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--&gt;</a:t>
            </a: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mesma interface que a nuvem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55321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PostgreSQL 16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5532120"/>
            <a:ext cx="2468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Warehouse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5532120"/>
            <a:ext cx="58521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Destino analítico simples e conhecido pelo time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Estratégia de ingestão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ELT: carrega primeiro, transforma depois. Dois destinos, propósitos diferentes.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488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 Lake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606040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B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Cópia byte a byte, particionada por data de referência.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63240"/>
            <a:ext cx="4617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741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raw/erp/&lt;tabela&gt;/data_referencia=&lt;ds&gt;/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520440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Registro imutável do que foi recebido. Permite reprocessar qualquer data sem voltar ao ERP.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192024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Data Warehouse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606040"/>
            <a:ext cx="4617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C2B3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Schema raw carregado pelo Meltano.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3063240"/>
            <a:ext cx="4617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7414D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tap-csv  →  target-postgres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3520440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Chave primária declarada por tabela e colunas _sdc_* de rastreabilidade de origem.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75488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E2A33"/>
          </a:solidFill>
          <a:ln w="12700">
            <a:solidFill>
              <a:srgbClr val="0E2A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49834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2C39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Idempotência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53949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partição do Data Lake é sobrescrita e o target-postgres faz MERGE em vez de INSERT. Reprocessar a mesma data não duplica nada</a:t>
            </a:r>
            <a:r>
              <a:rPr lang="pt-BR" alt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.</a:t>
            </a:r>
            <a:endParaRPr lang="pt-BR" altLang="en-US" sz="1350" dirty="0">
              <a:solidFill>
                <a:srgbClr val="B9D6D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r>
              <a:rPr lang="pt-BR" alt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OBS:</a:t>
            </a:r>
            <a:r>
              <a:rPr 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pt-BR" alt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</a:t>
            </a:r>
            <a:r>
              <a:rPr 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erificado em </a:t>
            </a:r>
            <a:r>
              <a:rPr lang="pt-BR" alt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mais de </a:t>
            </a:r>
            <a:r>
              <a:rPr lang="en-US" sz="1350" dirty="0">
                <a:solidFill>
                  <a:srgbClr val="B9D6D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três execuções seguidas.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 DAG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banvic_erp_ingestao · diária às 04:35 · sem catchup · execução única simultânea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1737360" cy="960120"/>
          </a:xfrm>
          <a:prstGeom prst="roundRect">
            <a:avLst>
              <a:gd name="adj" fmla="val 95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898648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Sensores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91256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 por tabela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468880" y="3268980"/>
            <a:ext cx="36576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26080" y="2788920"/>
            <a:ext cx="1783080" cy="960120"/>
          </a:xfrm>
          <a:prstGeom prst="roundRect">
            <a:avLst>
              <a:gd name="adj" fmla="val 95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17520" y="2898648"/>
            <a:ext cx="16002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Preparo do DW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3191256"/>
            <a:ext cx="160020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DDL idempotente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flipV="1">
            <a:off x="4799965" y="2192020"/>
            <a:ext cx="366395" cy="99949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800600" y="3268980"/>
            <a:ext cx="365760" cy="86868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212080" y="192024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303520" y="202996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735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Carga no Data Lake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303520" y="2322576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B443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 uploads em paralelo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212080" y="365760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0" y="3767328"/>
            <a:ext cx="2103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Carga no DW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4059936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Meltano em pod dedicado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89520" y="4137660"/>
            <a:ext cx="2743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909560" y="3657600"/>
            <a:ext cx="1600200" cy="960120"/>
          </a:xfrm>
          <a:prstGeom prst="roundRect">
            <a:avLst>
              <a:gd name="adj" fmla="val 9524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0" y="3767328"/>
            <a:ext cx="14173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Validação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001000" y="4059936"/>
            <a:ext cx="141732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8E3E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origem x destino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498080" y="2400300"/>
            <a:ext cx="228600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4080" y="2400300"/>
            <a:ext cx="0" cy="86868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9760" y="4137660"/>
            <a:ext cx="27432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84080" y="3268980"/>
            <a:ext cx="0" cy="86868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84080" y="3268980"/>
            <a:ext cx="320040" cy="0"/>
          </a:xfrm>
          <a:prstGeom prst="line">
            <a:avLst/>
          </a:prstGeom>
          <a:noFill/>
          <a:ln w="22225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49840" y="2788920"/>
            <a:ext cx="1371600" cy="960120"/>
          </a:xfrm>
          <a:prstGeom prst="roundRect">
            <a:avLst>
              <a:gd name="adj" fmla="val 9524"/>
            </a:avLst>
          </a:prstGeom>
          <a:solidFill>
            <a:srgbClr val="D7E6E8"/>
          </a:solidFill>
          <a:ln w="12700">
            <a:solidFill>
              <a:srgbClr val="D7E6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41280" y="2898648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Auditoria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0" y="3191256"/>
            <a:ext cx="1188720" cy="457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registro da execução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7080" y="5520690"/>
            <a:ext cx="310896" cy="310896"/>
          </a:xfrm>
          <a:prstGeom prst="ellipse">
            <a:avLst/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7080" y="552069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30352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Sensores garantem que nada comece com fonte incompleta.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88815" y="5520690"/>
            <a:ext cx="310896" cy="310896"/>
          </a:xfrm>
          <a:prstGeom prst="ellipse">
            <a:avLst/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88815" y="552069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800600" y="530352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Dois ramos paralelos: não dependem um do outro.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192770" y="5520690"/>
            <a:ext cx="310896" cy="310896"/>
          </a:xfrm>
          <a:prstGeom prst="ellipse">
            <a:avLst/>
          </a:prstGeom>
          <a:solidFill>
            <a:srgbClr val="EAF3F4"/>
          </a:solidFill>
          <a:ln w="12700">
            <a:solidFill>
              <a:srgbClr val="EAF3F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2770" y="552069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•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503920" y="5303520"/>
            <a:ext cx="31089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validação só roda depois do Meltano — dependência real.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Resiliência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Erro transitório e erro de dado são tratados de formas diferentes.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11096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Pod demora a subir, banco reiniciando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965960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retries=3 com backoff exponencial, teto de 10 min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79192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Arquivo ausente ou vazio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2679192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AirflowFailException </a:t>
            </a:r>
            <a:r>
              <a:rPr lang="pt-BR" alt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--&gt;</a:t>
            </a: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falha imediata, sem gastar retry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3392424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Contagem divergente, chave nula ou duplicada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3392424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Validação por tabela derruba a execução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105656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Task travada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4105656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execution_timeout de 30 min (45 min no Meltano)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764024"/>
            <a:ext cx="10881360" cy="621792"/>
          </a:xfrm>
          <a:prstGeom prst="roundRect">
            <a:avLst>
              <a:gd name="adj" fmla="val 11765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818888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Pod destruído com o log dentro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4818888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Log remoto no MinIO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553212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Falha em produção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5532120"/>
            <a:ext cx="5577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on_failure_callback grava status FALHA na auditoria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Pods com falha não são removidos</a:t>
            </a:r>
            <a:r>
              <a:rPr lang="pt-BR" altLang="en-US" sz="1250" i="1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,</a:t>
            </a:r>
            <a:r>
              <a:rPr lang="en-US" sz="1250" i="1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ficam disponíveis para kubectl logs e describe no post-mortem.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Segurança e segredos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Quem clona o repositório não recebe credencial nenhuma.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212848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21284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35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21945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Geradas na hora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19456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openssl rand na primeira execução, em arquivo fora do versionamento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17520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0175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35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999232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Viram Secret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999232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Terraform declara as variáveis como sensitive e cria Secrets do Kubernetes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22192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82219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35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803904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Chegam por ambiente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803904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Pods consomem via envFrom secretRef — nunca por arquivo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6268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35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608576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Connections injetadas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4608576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AIRFLOW_CONN_* não ficam no banco nem são digitadas na interface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431536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43153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7352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541324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Meltano referencia nomes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5413248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meltano.yml usa ${BANVIC_DW_PASSWORD}, nunca o valor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7414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Resultado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Sete tabelas do ERP em duas camadas, com contagem conferida a cada execução.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0E2A33"/>
          </a:solidFill>
          <a:ln w="12700">
            <a:solidFill>
              <a:srgbClr val="0E2A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743200"/>
            <a:ext cx="292608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2C39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76.206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70332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registros carregados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206240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 tabelas · 2 camadas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 execuções com resultado idêntico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2048256"/>
            <a:ext cx="7040880" cy="438912"/>
          </a:xfrm>
          <a:prstGeom prst="roundRect">
            <a:avLst>
              <a:gd name="adj" fmla="val 16667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0600" y="20848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E2A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agencias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208483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58775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E2A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clientes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258775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998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0" y="3054096"/>
            <a:ext cx="7040880" cy="438912"/>
          </a:xfrm>
          <a:prstGeom prst="roundRect">
            <a:avLst>
              <a:gd name="adj" fmla="val 16667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309067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E2A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colaboradores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59359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E2A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colaborador_agencia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359359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0" y="4059936"/>
            <a:ext cx="7040880" cy="438912"/>
          </a:xfrm>
          <a:prstGeom prst="roundRect">
            <a:avLst>
              <a:gd name="adj" fmla="val 16667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409651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E2A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contas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409651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999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459943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E2A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propostas_credito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459943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2.000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0" y="5065776"/>
            <a:ext cx="7040880" cy="438912"/>
          </a:xfrm>
          <a:prstGeom prst="roundRect">
            <a:avLst>
              <a:gd name="adj" fmla="val 16667"/>
            </a:avLst>
          </a:prstGeom>
          <a:solidFill>
            <a:srgbClr val="F4F8F8"/>
          </a:solidFill>
          <a:ln w="12700">
            <a:solidFill>
              <a:srgbClr val="F4F8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5102352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0E2A33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transacoes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0" y="510235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2809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71.999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0" y="5760720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conferência é uma task da DAG: compara a contagem do arquivo de origem com a do destino e derruba a execução se divergir.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2A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Próximos passos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70432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que a POC deixa preparado para a jornada de dados do BanVic.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93392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9339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9659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Transformação com dbt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96596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Sobre o schema raw: tipagem, padronização e modelo dimensional.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80720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Dashboard comercial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807208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Transações por cliente, base ativa e sinais de churn para a área da Camila.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67588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67588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648456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Ranking de alavancas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3648456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 transações, contas, propostas e agências no mesmo lugar, a pergunta da CEO vira consulta.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51713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1713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489704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Observabilidade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4489704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Prometheus e Grafana sobre o exporter StatsD que já está ativo.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53583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535838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5330952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2A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Ingestão incremental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5330952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CDC quando a origem deixar de ser arquivo e passar a ser o banco do ERP.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727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601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Demonstração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7452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2C39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Infraestrutura como código, ingestão idempotente, orquestração com dependências explícitas e nenhum segredo versionado.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78892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make up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2788920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sobe o ambiente do zero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52044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352044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make run-dag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520440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ativa e dispara a DAG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25196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25196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make verify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4251960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confere os dados no Data Warehouse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983480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17414D"/>
          </a:solidFill>
          <a:ln w="12700">
            <a:solidFill>
              <a:srgbClr val="17414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9834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make datalake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4983480"/>
            <a:ext cx="6675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FC9C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lista os objetos no MinIO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A9A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github.com/dwsilva/de_cert_indicium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35508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17414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5586</Words>
  <Application>WPS Presentation</Application>
  <PresentationFormat>On-screen Show (16:9)</PresentationFormat>
  <Paragraphs>376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7" baseType="lpstr">
      <vt:lpstr>Arial</vt:lpstr>
      <vt:lpstr>SimSun</vt:lpstr>
      <vt:lpstr>Wingdings</vt:lpstr>
      <vt:lpstr>Calibri</vt:lpstr>
      <vt:lpstr>Calibri</vt:lpstr>
      <vt:lpstr>Calibri</vt:lpstr>
      <vt:lpstr>Cambria</vt:lpstr>
      <vt:lpstr>Cambria</vt:lpstr>
      <vt:lpstr>Cambria</vt:lpstr>
      <vt:lpstr>Courier New</vt:lpstr>
      <vt:lpstr>Courier New</vt:lpstr>
      <vt:lpstr>Courier New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BanVic - Plataforma de Ingestao de Dados</dc:title>
  <dc:creator>David Couto</dc:creator>
  <dc:subject>PptxGenJS Presentation</dc:subject>
  <cp:lastModifiedBy>David Couto</cp:lastModifiedBy>
  <cp:revision>2</cp:revision>
  <dcterms:created xsi:type="dcterms:W3CDTF">2026-09-16T21:34:00Z</dcterms:created>
  <dcterms:modified xsi:type="dcterms:W3CDTF">2026-09-29T22:42:49Z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1046-12.1.0.28485</vt:lpwstr>
  </property>
  <property fmtid="{D5CDD505-2E9C-101B-9397-08002B2CF9AE}" pid="3" name="ICV">
    <vt:lpwstr>8E70DE4E790543299B16471599BA8219_12</vt:lpwstr>
  </property>
</Properties>
</file>